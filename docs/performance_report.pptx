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2788920"/>
            <a:ext cx="9418320" cy="54864"/>
          </a:xfrm>
          <a:prstGeom prst="rect">
            <a:avLst/>
          </a:prstGeom>
          <a:solidFill>
            <a:srgbClr val="1A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eiryo"/>
              </a:rPr>
              <a:t>FastTracker 性能評価報告書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8F7"/>
                </a:solidFill>
                <a:latin typeface="Meiryo"/>
              </a:rPr>
              <a:t>GPU加速マルチターゲット追尾システム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eiryo"/>
              </a:rPr>
              <a:t>2026年2月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5B96"/>
                </a:solidFill>
                <a:latin typeface="Meiryo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評価概要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システム概要と評価目的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82880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20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試験条件 - シナリオ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飛翔経路とセンサー配置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37744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688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試験条件 - パラメータ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レーダー・追尾器パラメータ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2608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1751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01751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軌道生成結果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1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3D飛翔軌道の可視化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474719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5661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追尾結果の可視化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追尾結果と評価チャート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02336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14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6.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114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追尾精度評価 - 位置誤差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位置RMSEの時系列評価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57200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6343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7.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66343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追尾精度評価 - 速度誤差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6634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速度RMSEの時系列評価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120639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120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5212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追尾精度評価 - OSPA距離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12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OSPA距離の時系列評価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66928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7607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9.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760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検出性能評価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760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Precision / Recall / F1 Score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6217920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63093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10.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6309359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処理速度評価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309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GPU加速による処理性能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6766559"/>
            <a:ext cx="10332720" cy="9144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68580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3366"/>
                </a:solidFill>
                <a:latin typeface="Meiryo"/>
              </a:rPr>
              <a:t>11.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6858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総合評価・まとめ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6858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Meiryo"/>
              </a:rPr>
              <a:t>全メトリクスの総括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1. 評価概要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評価目的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FastTracker v1.0の追尾性能を定量的に評価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弾道ミサイルシナリオにおける追尾精度の検証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GPU加速によるリアルタイム処理能力の確認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IMM-UKFフィルタの運動モデル切替性能の評価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評価対象システム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FastTracker v1.0 (CUDA/C++)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IMM-UKF (Interacting Multiple Model - Unscented Kalman Filter)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GNN (Global Nearest Neighbor) データアソシエーション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モンテカルロ試験: 10回試行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評価項目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37360"/>
          <a:ext cx="4846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83464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評価項目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軌道追尾精度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位置・速度RMSEによる評価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OSPA距離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目標存在性を含む総合距離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検出性能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Precision / Recall / F1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トラック管理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確立・維持・削除の正確性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処理速度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フレーム処理時間・全体処理時間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モデル切替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IMM 3モデル(CV/弾道/CT)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2. 試験条件 - シナリオ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366"/>
                </a:solidFill>
                <a:latin typeface="Meiryo"/>
              </a:rPr>
              <a:t>単一弾道ミサイルシナリオ (平壌 → 東京)</a:t>
            </a:r>
          </a:p>
        </p:txBody>
      </p:sp>
      <p:pic>
        <p:nvPicPr>
          <p:cNvPr id="5" name="Picture 4" descr="02_map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179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350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発射地点(赤)・目標地点(青)・センサー位置(緑) の配置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40880" y="1828800"/>
          <a:ext cx="47548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シナリオ名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single-ballistic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発射地点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平壌 (39.0°N, 125.7°E)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目標地点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東京 (35.7°N, 139.7°E)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センサ位置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対馬海峡 (34.8°N, 131.1°E)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飛翔距離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~1,000 km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最高高度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~300 km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飛翔時間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~600 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目標数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 (単一目標)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更新レート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2 Hz (0.5秒間隔)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3. 試験条件 - パラメータ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レーダーパラメータ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パラメータ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最大探知距離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2,000 km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視野角 (FOV)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120°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探知確率 (Pd)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0.95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誤警報確率 (Pfa)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 x 10⁻⁶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更新レート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2 Hz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追尾器パラメータ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55448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パラメータ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ゲート閾値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500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確立ヒット数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削除ミス数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UKFパラメータ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75488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パラメータ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alpha (α)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0.5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beta (β)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2.0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kappa (κ)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プロセスノイズ / IMM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384048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パラメータ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位置ノイズ (σ_pos)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160 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速度ノイズ (σ_vel)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65 m/s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加速度ノイズ (σ_acc)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160 m/s²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IMMモデル数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3 (CV / Ballistic / CT)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モンテカルロ試行数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10回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4. 軌道生成結果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RK4物理モデルによる弾道飛翔軌道</a:t>
            </a:r>
          </a:p>
        </p:txBody>
      </p:sp>
      <p:pic>
        <p:nvPicPr>
          <p:cNvPr id="5" name="Picture 4" descr="06_trajector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5920"/>
            <a:ext cx="7589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生成された3D弾道軌道 (ブースト→ミッドコース→再突入)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軌道パラメータ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ミサイル種別: 弾道ミサイル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物理モデル: RK4積分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重力: 高度依存 g(h)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大気抗力: 指数大気モデル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飛翔フェーズ: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  1. ブースト (加速上昇)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  2. ミッドコース (慣性飛翔)</a:t>
            </a:r>
          </a:p>
          <a:p>
            <a:pPr>
              <a:lnSpc>
                <a:spcPts val="15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  3. 再突入 (降下加速)</a:t>
            </a:r>
          </a:p>
        </p:txBody>
      </p:sp>
      <p:pic>
        <p:nvPicPr>
          <p:cNvPr id="9" name="Picture 8" descr="01_full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389120"/>
            <a:ext cx="365760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Meiryo"/>
              </a:rPr>
              <a:t>図: FastTracker Web GUI 全体画面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5. 追尾結果の可視化</a:t>
            </a:r>
          </a:p>
        </p:txBody>
      </p:sp>
      <p:pic>
        <p:nvPicPr>
          <p:cNvPr id="4" name="Picture 3" descr="07_track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66344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3D追尾結果 — 真値(緑) vs 推定軌道(青) vs 観測(赤点)</a:t>
            </a:r>
          </a:p>
        </p:txBody>
      </p:sp>
      <p:pic>
        <p:nvPicPr>
          <p:cNvPr id="6" name="Picture 5" descr="08_e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66344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評価チャート — 位置・速度誤差、OSPA距離、モデル確率推移</a:t>
            </a:r>
          </a:p>
        </p:txBody>
      </p:sp>
      <p:pic>
        <p:nvPicPr>
          <p:cNvPr id="8" name="Picture 7" descr="09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5029200"/>
            <a:ext cx="7589520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64922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タイムライン — ビーム配分・検出イベント・トラック状態の時系列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6. 追尾精度評価 - 位置誤差</a:t>
            </a:r>
          </a:p>
        </p:txBody>
      </p:sp>
      <p:pic>
        <p:nvPicPr>
          <p:cNvPr id="4" name="Picture 3" descr="pos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04672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371600"/>
            <a:ext cx="2926080" cy="3200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366"/>
                </a:solidFill>
                <a:latin typeface="Meiryo"/>
              </a:rPr>
              <a:t>主要結果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位置 RMSE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3366"/>
                </a:solidFill>
                <a:latin typeface="Meiryo"/>
              </a:rPr>
              <a:t>986.1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± 51.4 m (1σ)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566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フレーム平均: 728.5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931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データ点数: 603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7. 追尾精度評価 - 速度誤差</a:t>
            </a:r>
          </a:p>
        </p:txBody>
      </p:sp>
      <p:pic>
        <p:nvPicPr>
          <p:cNvPr id="4" name="Picture 3" descr="ve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04672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371600"/>
            <a:ext cx="2926080" cy="3200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366"/>
                </a:solidFill>
                <a:latin typeface="Meiryo"/>
              </a:rPr>
              <a:t>主要結果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速度 RMSE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3366"/>
                </a:solidFill>
                <a:latin typeface="Meiryo"/>
              </a:rPr>
              <a:t>199.8 m/s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± 33.0 m/s (1σ)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566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フレーム平均: 121.6 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931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データ点数: 601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8. 追尾精度評価 - OSPA距離</a:t>
            </a:r>
          </a:p>
        </p:txBody>
      </p:sp>
      <p:pic>
        <p:nvPicPr>
          <p:cNvPr id="4" name="Picture 3" descr="os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04672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371600"/>
            <a:ext cx="2926080" cy="3200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366"/>
                </a:solidFill>
                <a:latin typeface="Meiryo"/>
              </a:rPr>
              <a:t>主要結果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OSPA距離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3366"/>
                </a:solidFill>
                <a:latin typeface="Meiryo"/>
              </a:rPr>
              <a:t>836.7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eiryo"/>
              </a:rPr>
              <a:t>± 35.5 m (1σ)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566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フレーム平均: 730.9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931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カットオフ距離含む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9. 検出性能評価</a:t>
            </a:r>
          </a:p>
        </p:txBody>
      </p:sp>
      <p:pic>
        <p:nvPicPr>
          <p:cNvPr id="4" name="Picture 3" descr="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4008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検出メトリクス詳細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64592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メトリクス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標準偏差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Precision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100.0%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0.0%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Recall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99.6%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0.3%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F1 Score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99.8%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0.2%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37490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6"/>
                </a:solidFill>
                <a:latin typeface="Meiryo"/>
              </a:rPr>
              <a:t>評価説明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2062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Precision 100%: 偽トラック生成なし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Recall 99.6%: 初期捕捉遅延のみ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False Positive: 0件 (全フレーム)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False Negative: 初期2フレームのみ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003366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10回モンテカルロ試験で安定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10. 処理速度評価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処理時間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00400" cy="2286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eiryo"/>
              </a:rPr>
              <a:t>全体処理時間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3366"/>
                </a:solidFill>
                <a:latin typeface="Meiryo"/>
              </a:rPr>
              <a:t>0.1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Meiryo"/>
              </a:rPr>
              <a:t>± 0.0 s (Wall-clock)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600フレーム / 301秒シナリオ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00400" cy="2286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eiryo"/>
              </a:rPr>
              <a:t>平均フレーム処理時間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3366"/>
                </a:solidFill>
                <a:latin typeface="Meiryo"/>
              </a:rPr>
              <a:t>0.2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Meiryo"/>
              </a:rPr>
              <a:t>± 0.0 ms (1σ)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66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Meiryo"/>
              </a:rPr>
              <a:t>リアルタイム要件を十分満足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  <a:latin typeface="Meiryo"/>
              </a:rPr>
              <a:t>GPU加速の利点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CUDA並列処理により高速化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UKFシグマ点計算をGPUで並列実行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データアソシエーションの並列化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フレーム時間 0.2ms &lt;&lt; 更新間隔 500ms</a:t>
            </a:r>
          </a:p>
          <a:p>
            <a:pPr>
              <a:lnSpc>
                <a:spcPts val="18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03366"/>
                </a:solidFill>
                <a:latin typeface="Meiryo"/>
              </a:rPr>
              <a:t>■  </a:t>
            </a:r>
            <a:r>
              <a:rPr sz="1300" b="0">
                <a:solidFill>
                  <a:srgbClr val="333333"/>
                </a:solidFill>
                <a:latin typeface="Meiryo"/>
              </a:rPr>
              <a:t>リアルタイム比: 2,500倍高速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性能サマリー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502920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メトリクス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値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リアルタイム要件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判定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全体処理時間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0.1 ± 0.0 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&lt; 301 s (シナリオ時間)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フレーム処理時間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0.2 ± 0.0 ms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&lt; 500 ms (更新間隔)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リアルタイム比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× 2,500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× 1 以上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参考: シミュレーション後の全体画面</a:t>
            </a:r>
          </a:p>
        </p:txBody>
      </p:sp>
      <p:pic>
        <p:nvPicPr>
          <p:cNvPr id="4" name="Picture 3" descr="10_full_after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eiryo"/>
              </a:rPr>
              <a:t>図: シミュレーション完了後のFastTracker Web GUI全体画面 — 地図上のセンサー覆域・追尾軌道・3D追尾結果を統合表示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"/>
              </a:rPr>
              <a:t>11. 総合評価・まとめ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366"/>
                </a:solidFill>
                <a:latin typeface="Meiryo"/>
              </a:rPr>
              <a:t>全メトリクス総括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評価項目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結果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標準偏差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判定</a:t>
                      </a:r>
                    </a:p>
                  </a:txBody>
                  <a:tcPr anchor="ctr" marL="73152" marR="73152" marT="36576" marB="36576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位置 RMSE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986.1 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51.4 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666666"/>
                          </a:solidFill>
                          <a:latin typeface="Meiryo"/>
                        </a:rPr>
                        <a:t>---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速度 RMSE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199.8 m/s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33.0 m/s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666666"/>
                          </a:solidFill>
                          <a:latin typeface="Meiryo"/>
                        </a:rPr>
                        <a:t>---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OSPA距離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836.7 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35.5 m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666666"/>
                          </a:solidFill>
                          <a:latin typeface="Meiryo"/>
                        </a:rPr>
                        <a:t>---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Precision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100.0%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0.0%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Recall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99.6%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0.3%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F1 Score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99.8%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0.2%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全体処理時間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0.1 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0.0 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フレーム処理時間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0.2 ms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Meiryo"/>
                        </a:rPr>
                        <a:t>± 0.0 ms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7AE60"/>
                          </a:solidFill>
                          <a:latin typeface="Meiryo"/>
                        </a:rPr>
                        <a:t>PASS</a:t>
                      </a:r>
                    </a:p>
                  </a:txBody>
                  <a:tcPr anchor="ctr" marL="73152" marR="73152" marT="36576" marB="36576">
                    <a:solidFill>
                      <a:srgbClr val="ECF0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  <a:latin typeface="Meiryo"/>
              </a:rPr>
              <a:t>強み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544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27AE60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検出性能が極めて高い (F1=99.8%)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27AE60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偽トラック生成なし (Precision=100%)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27AE60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GPU加速でリアルタイム比2,500倍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27AE60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安定したモンテカルロ結果 (低σ)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27AE60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IMMモデル切替が機能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74C3C"/>
                </a:solidFill>
                <a:latin typeface="Meiryo"/>
              </a:rPr>
              <a:t>改善検討事項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233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E74C3C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位置RMSE ~1km (高高度域で増大)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E74C3C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再突入フェーズでOSPA増大傾向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E74C3C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初期捕捉に1秒の遅延あり</a:t>
            </a:r>
          </a:p>
          <a:p>
            <a:pPr>
              <a:lnSpc>
                <a:spcPts val="16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E74C3C"/>
                </a:solidFill>
                <a:latin typeface="Meiryo"/>
              </a:rPr>
              <a:t>■  </a:t>
            </a:r>
            <a:r>
              <a:rPr sz="1200" b="0">
                <a:solidFill>
                  <a:srgbClr val="333333"/>
                </a:solidFill>
                <a:latin typeface="Meiryo"/>
              </a:rPr>
              <a:t>多目標シナリオでの検証が必要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760720"/>
            <a:ext cx="11064240" cy="7315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"/>
              </a:rPr>
              <a:t>結論: FastTracker v1.0は、単一弾道ミサイルシナリオにおいて高い検出性能 (F1=99.8%) と十分なリアルタイム処理能力 (フレーム時間0.2ms) を実証した。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09360"/>
            <a:ext cx="11064240" cy="27432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eiryo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