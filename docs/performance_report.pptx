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2743200"/>
            <a:ext cx="9966960" cy="54864"/>
          </a:xfrm>
          <a:prstGeom prst="rect">
            <a:avLst/>
          </a:prstGeom>
          <a:solidFill>
            <a:srgbClr val="1A7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eiryo"/>
              </a:rPr>
              <a:t>FastTracker 性能評価報告書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D6E8F7"/>
                </a:solidFill>
                <a:latin typeface="Meiryo"/>
              </a:rPr>
              <a:t>— 3イテレーション チューニング評価 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6E8F7"/>
                </a:solidFill>
                <a:latin typeface="Meiryo"/>
              </a:rPr>
              <a:t>GPU加速マルチターゲット追尾システム
Ballistic / HGV × cluster=0 /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66344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Meiryo"/>
              </a:rPr>
              <a:t>2026年2月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5778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5B96"/>
                </a:solidFill>
                <a:latin typeface="Meiryo"/>
              </a:rPr>
              <a:t>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目次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3366"/>
                </a:solidFill>
                <a:latin typeface="Meiryo"/>
              </a:rPr>
              <a:t>1.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0515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Meiryo"/>
              </a:rPr>
              <a:t>評価概要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05156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eiryo"/>
              </a:rPr>
              <a:t>評価目的・対象システム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53896"/>
            <a:ext cx="10698480" cy="914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3366"/>
                </a:solidFill>
                <a:latin typeface="Meiryo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53619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Meiryo"/>
              </a:rPr>
              <a:t>評価パターン・試験条件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53619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eiryo"/>
              </a:rPr>
              <a:t>シナリオ・センサー・ターゲット設定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938528"/>
            <a:ext cx="10698480" cy="914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2082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3366"/>
                </a:solidFill>
                <a:latin typeface="Meiryo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02082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Meiryo"/>
              </a:rPr>
              <a:t>追尾パラメータ推移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02082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eiryo"/>
              </a:rPr>
              <a:t>3イテレーションのパラメータ変更方針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423160"/>
            <a:ext cx="10698480" cy="914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50545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3366"/>
                </a:solidFill>
                <a:latin typeface="Meiryo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250545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Meiryo"/>
              </a:rPr>
              <a:t>Iteration 1 ベースライン結果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50545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eiryo"/>
              </a:rPr>
              <a:t>4パターン追尾性能評価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907792"/>
            <a:ext cx="10698480" cy="914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99008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3366"/>
                </a:solidFill>
                <a:latin typeface="Meiryo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299008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Meiryo"/>
              </a:rPr>
              <a:t>Iteration 2 チューニング結果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99008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eiryo"/>
              </a:rPr>
              <a:t>ゲート・確定条件・加速度ノイズ改善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392424"/>
            <a:ext cx="10698480" cy="914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47472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3366"/>
                </a:solidFill>
                <a:latin typeface="Meiryo"/>
              </a:rPr>
              <a:t>6.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4747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Meiryo"/>
              </a:rPr>
              <a:t>Iteration 3 チューニング結果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4747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eiryo"/>
              </a:rPr>
              <a:t>速度ノイズ・加速度ノイズ最終調整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877056"/>
            <a:ext cx="10698480" cy="914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959352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3366"/>
                </a:solidFill>
                <a:latin typeface="Meiryo"/>
              </a:rPr>
              <a:t>7.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39593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Meiryo"/>
              </a:rPr>
              <a:t>性能推移 — 位置・速度 RMSE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95935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eiryo"/>
              </a:rPr>
              <a:t>3イテレーション比較グラフ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361688"/>
            <a:ext cx="10698480" cy="914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443984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3366"/>
                </a:solidFill>
                <a:latin typeface="Meiryo"/>
              </a:rPr>
              <a:t>8.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25880" y="444398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Meiryo"/>
              </a:rPr>
              <a:t>性能推移 — OSPA・Precision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443984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eiryo"/>
              </a:rPr>
              <a:t>3イテレーション比較グラフ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4846320"/>
            <a:ext cx="10698480" cy="914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92861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3366"/>
                </a:solidFill>
                <a:latin typeface="Meiryo"/>
              </a:rPr>
              <a:t>9.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25880" y="492861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Meiryo"/>
              </a:rPr>
              <a:t>主要指標の改善量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92861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eiryo"/>
              </a:rPr>
              <a:t>Iter1→Iter3 改善率サマリー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330952"/>
            <a:ext cx="10698480" cy="914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541324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3366"/>
                </a:solidFill>
                <a:latin typeface="Meiryo"/>
              </a:rPr>
              <a:t>10.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54132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Meiryo"/>
              </a:rPr>
              <a:t>処理速度評価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41324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eiryo"/>
              </a:rPr>
              <a:t>GPU加速による処理性能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815584"/>
            <a:ext cx="10698480" cy="9144"/>
          </a:xfrm>
          <a:prstGeom prst="rect">
            <a:avLst/>
          </a:prstGeom>
          <a:solidFill>
            <a:srgbClr val="D6E8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589788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>
                <a:solidFill>
                  <a:srgbClr val="003366"/>
                </a:solidFill>
                <a:latin typeface="Meiryo"/>
              </a:rPr>
              <a:t>11.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25880" y="58978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Meiryo"/>
              </a:rPr>
              <a:t>総合評価・まとめ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58978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Meiryo"/>
              </a:rPr>
              <a:t>全メトリクスの総括と推奨パラメータ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6355080"/>
            <a:ext cx="11247120" cy="2743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1. 評価概要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Meiryo"/>
              </a:rPr>
              <a:t>評価目的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003366"/>
                </a:solidFill>
                <a:latin typeface="Meiryo"/>
              </a:rPr>
              <a:t>■  </a:t>
            </a:r>
            <a:r>
              <a:rPr sz="1200" b="0">
                <a:solidFill>
                  <a:srgbClr val="333333"/>
                </a:solidFill>
                <a:latin typeface="Meiryo"/>
              </a:rPr>
              <a:t>Ballistic / HGV × クラスタ有無 の 4 パターンで追尾性能を定量評価</a:t>
            </a:r>
          </a:p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003366"/>
                </a:solidFill>
                <a:latin typeface="Meiryo"/>
              </a:rPr>
              <a:t>■  </a:t>
            </a:r>
            <a:r>
              <a:rPr sz="1200" b="0">
                <a:solidFill>
                  <a:srgbClr val="333333"/>
                </a:solidFill>
                <a:latin typeface="Meiryo"/>
              </a:rPr>
              <a:t>追尾パラメータを 3 回チューニングして性能改善効果を確認</a:t>
            </a:r>
          </a:p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003366"/>
                </a:solidFill>
                <a:latin typeface="Meiryo"/>
              </a:rPr>
              <a:t>■  </a:t>
            </a:r>
            <a:r>
              <a:rPr sz="1200" b="0">
                <a:solidFill>
                  <a:srgbClr val="333333"/>
                </a:solidFill>
                <a:latin typeface="Meiryo"/>
              </a:rPr>
              <a:t>センサー・ターゲットパラメータを固定し追尾器性能のみを評価</a:t>
            </a:r>
          </a:p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003366"/>
                </a:solidFill>
                <a:latin typeface="Meiryo"/>
              </a:rPr>
              <a:t>■  </a:t>
            </a:r>
            <a:r>
              <a:rPr sz="1200" b="0">
                <a:solidFill>
                  <a:srgbClr val="333333"/>
                </a:solidFill>
                <a:latin typeface="Meiryo"/>
              </a:rPr>
              <a:t>各イテレーション 5 回モンテカルロ試験 (seed=42)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4903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Meiryo"/>
              </a:rPr>
              <a:t>評価対象システム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5303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003366"/>
                </a:solidFill>
                <a:latin typeface="Meiryo"/>
              </a:rPr>
              <a:t>■  </a:t>
            </a:r>
            <a:r>
              <a:rPr sz="1200" b="0">
                <a:solidFill>
                  <a:srgbClr val="333333"/>
                </a:solidFill>
                <a:latin typeface="Meiryo"/>
              </a:rPr>
              <a:t>FastTracker (CUDA/C++)</a:t>
            </a:r>
          </a:p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003366"/>
                </a:solidFill>
                <a:latin typeface="Meiryo"/>
              </a:rPr>
              <a:t>■  </a:t>
            </a:r>
            <a:r>
              <a:rPr sz="1200" b="0">
                <a:solidFill>
                  <a:srgbClr val="333333"/>
                </a:solidFill>
                <a:latin typeface="Meiryo"/>
              </a:rPr>
              <a:t>IMM-UKF (CV / Ballistic / Coordinated Turn モデル)</a:t>
            </a:r>
          </a:p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003366"/>
                </a:solidFill>
                <a:latin typeface="Meiryo"/>
              </a:rPr>
              <a:t>■  </a:t>
            </a:r>
            <a:r>
              <a:rPr sz="1200" b="0">
                <a:solidFill>
                  <a:srgbClr val="333333"/>
                </a:solidFill>
                <a:latin typeface="Meiryo"/>
              </a:rPr>
              <a:t>GNN (Global Nearest Neighbor) データアソシエーション</a:t>
            </a:r>
          </a:p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003366"/>
                </a:solidFill>
                <a:latin typeface="Meiryo"/>
              </a:rPr>
              <a:t>■  </a:t>
            </a:r>
            <a:r>
              <a:rPr sz="1200" b="0">
                <a:solidFill>
                  <a:srgbClr val="333333"/>
                </a:solidFill>
                <a:latin typeface="Meiryo"/>
              </a:rPr>
              <a:t>GPU: CUDA 12.6 / Docker コンテナ内実行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05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Meiryo"/>
              </a:rPr>
              <a:t>評価パターン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463040"/>
          <a:ext cx="5212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371600"/>
                <a:gridCol w="1371600"/>
                <a:gridCol w="17373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パターン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ミサイル種別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クラスタ数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総目標数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A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Ballistic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B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Ballistic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40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41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C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HGV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D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HGV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40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41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3566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Meiryo"/>
              </a:rPr>
              <a:t>評価指標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4023360"/>
          <a:ext cx="52120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383280"/>
              </a:tblGrid>
              <a:tr h="32657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指標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位置 RMSE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目標位置の二乗平均平方根誤差 [m]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速度 RMSE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目標速度の二乗平均平方根誤差 [m/s]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OSPA 距離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最適部分割当距離 [m]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Precision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確定トラック中の正しいトラック率 [%]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Recall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真目標中の追尾成功率 [%]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32657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F1 スコア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Precision と Recall の調和平均 [%]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6355080"/>
            <a:ext cx="11247120" cy="2743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2. 評価パターン・試験条件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Meiryo"/>
              </a:rPr>
              <a:t>センサーパラメータ（全イテレーション固定）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53035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46888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パラメータ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値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センサー位置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(0, 0) m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視野角 (FOV)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360° (全周)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誤警報確率 (Pfa)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1×10⁻⁶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基準検出確率 (Pd)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90% @ max_range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距離ノイズ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10 m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方位角ノイズ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0.01 rad (≈0.57°)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ドップラーノイズ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 m/s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ビーム幅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3° (0.0524 rad)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ビーム数/フレーム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100584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Meiryo"/>
              </a:rPr>
              <a:t>ターゲットパラメータ（固定）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417320"/>
          <a:ext cx="5486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パラメータ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Ballistic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HGV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発射位置 X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−600,000 m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−800,000 m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発射角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0.698 rad (40°)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0.349 rad (20°)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飛翔時間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400 s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600 s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フレームレート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10 Hz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10 Hz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初期質量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20,000 kg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20,000 kg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燃料比率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0.70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0.70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巡航高度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40,000 m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グライド比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4.0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クラスタ拡散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5,000 m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5,000 m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6355080"/>
            <a:ext cx="11247120" cy="2743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3. 追尾パラメータ推移（Iter 1 → 2 → 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Meiryo"/>
              </a:rPr>
              <a:t>センサー・ターゲットパラメータは全イテレーション不変。追尾器パラメータのみを調整。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6304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45920"/>
                <a:gridCol w="1463040"/>
                <a:gridCol w="1645920"/>
                <a:gridCol w="4663440"/>
              </a:tblGrid>
              <a:tr h="5143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パラメータ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Iter 1（ベース）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Iter 2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Iter 3（最終）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変更理由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gate_threshold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500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200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150</a:t>
                      </a:r>
                    </a:p>
                  </a:txBody>
                  <a:tcPr anchor="ctr" marL="54864" marR="54864" marT="27432" marB="27432">
                    <a:solidFill>
                      <a:srgbClr val="D5F0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ゲート狭小化で FP 削減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confirm_hits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3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3（維持）</a:t>
                      </a:r>
                    </a:p>
                  </a:txBody>
                  <a:tcPr anchor="ctr" marL="54864" marR="54864" marT="27432" marB="27432">
                    <a:solidFill>
                      <a:srgbClr val="D5F0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3連続ヒット必要で偽トラック抑制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delete_misses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30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20</a:t>
                      </a:r>
                    </a:p>
                  </a:txBody>
                  <a:tcPr anchor="ctr" marL="54864" marR="54864" marT="27432" marB="27432">
                    <a:solidFill>
                      <a:srgbClr val="D5F0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早期削除で偽トラック長期化防止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process_vel_noise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65 m/s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65 m/s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150 m/s</a:t>
                      </a:r>
                    </a:p>
                  </a:txBody>
                  <a:tcPr anchor="ctr" marL="54864" marR="54864" marT="27432" marB="27432">
                    <a:solidFill>
                      <a:srgbClr val="D5F0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HGV 速度急変への追従性向上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process_acc_noise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160 m/s²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300 m/s²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500 m/s²</a:t>
                      </a:r>
                    </a:p>
                  </a:txBody>
                  <a:tcPr anchor="ctr" marL="54864" marR="54864" marT="27432" marB="27432">
                    <a:solidFill>
                      <a:srgbClr val="D5F0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HGV 機動（~5G）に対応した不確かさ拡大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process_pos_noise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160 m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160 m（維持）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160 m（維持）</a:t>
                      </a:r>
                    </a:p>
                  </a:txBody>
                  <a:tcPr anchor="ctr" marL="54864" marR="54864" marT="27432" marB="27432">
                    <a:solidFill>
                      <a:srgbClr val="D5F0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min_snr_for_init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22 dB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22 dB（維持）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22 dB（維持）</a:t>
                      </a:r>
                    </a:p>
                  </a:txBody>
                  <a:tcPr anchor="ctr" marL="54864" marR="54864" marT="27432" marB="27432">
                    <a:solidFill>
                      <a:srgbClr val="D5F0D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—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eiryo"/>
              </a:rPr>
              <a:t>Iter 2: ゲート狭小化 + 確定条件厳格化 + 加速度ノイズ増大 → Precision 改善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0807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Meiryo"/>
              </a:rPr>
              <a:t>Iter 3: 速度・加速度ノイズをさらに増大 → HGV 速度 RMSE が −41% 改善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355080"/>
            <a:ext cx="11247120" cy="2743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4. Iteration 1 — ベースライン評価結果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05840"/>
          <a:ext cx="10515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554480"/>
                <a:gridCol w="1371600"/>
                <a:gridCol w="1645920"/>
                <a:gridCol w="1371600"/>
                <a:gridCol w="128016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パターン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位置RMSE [m]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速度RMSE [m/s]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OSPA [m]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Precision [%]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Recall [%]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F1 [%]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A: Ballistic cl=0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1299 ±180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230 ±60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1170 ±183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98.6 ±2.8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99.4 ±0.4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99.0 ±1.4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B: Ballistic cl=40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1429 ±55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220 ±1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2479 ±92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96.0 ±0.6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99.3 ±0.1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97.6 ±0.3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C: HGV cl=0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2400 ±255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446 ±123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2202 ±204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95.1 ±3.6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99.1 ±0.4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97.1 ±2.0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D: HGV cl=40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2042 ±50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325 ±18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3224 ±212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92.5 ±1.4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98.8 ±0.3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95.5 ±0.8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3375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Meiryo"/>
              </a:rPr>
              <a:t>注目ポイント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49039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003366"/>
                </a:solidFill>
                <a:latin typeface="Meiryo"/>
              </a:rPr>
              <a:t>■  </a:t>
            </a:r>
            <a:r>
              <a:rPr sz="1200" b="0">
                <a:solidFill>
                  <a:srgbClr val="333333"/>
                </a:solidFill>
                <a:latin typeface="Meiryo"/>
              </a:rPr>
              <a:t>Ballistic 単機 (A): Precision≈98.6%, F1≈99.0% — 良好なベースライン</a:t>
            </a:r>
          </a:p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003366"/>
                </a:solidFill>
                <a:latin typeface="Meiryo"/>
              </a:rPr>
              <a:t>■  </a:t>
            </a:r>
            <a:r>
              <a:rPr sz="1200" b="0">
                <a:solidFill>
                  <a:srgbClr val="333333"/>
                </a:solidFill>
                <a:latin typeface="Meiryo"/>
              </a:rPr>
              <a:t>Ballistic クラスタ (B): Precision=96.0% — クラッタ環境で FP 発生</a:t>
            </a:r>
          </a:p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003366"/>
                </a:solidFill>
                <a:latin typeface="Meiryo"/>
              </a:rPr>
              <a:t>■  </a:t>
            </a:r>
            <a:r>
              <a:rPr sz="1200" b="0">
                <a:solidFill>
                  <a:srgbClr val="333333"/>
                </a:solidFill>
                <a:latin typeface="Meiryo"/>
              </a:rPr>
              <a:t>HGV 単機 (C): 速度RMSE=445 m/s — HGV 機動に対してプロセスノイズ不足</a:t>
            </a:r>
          </a:p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003366"/>
                </a:solidFill>
                <a:latin typeface="Meiryo"/>
              </a:rPr>
              <a:t>■  </a:t>
            </a:r>
            <a:r>
              <a:rPr sz="1200" b="0">
                <a:solidFill>
                  <a:srgbClr val="333333"/>
                </a:solidFill>
                <a:latin typeface="Meiryo"/>
              </a:rPr>
              <a:t>HGV クラスタ (D): Precision=92.5%, OSPA=3224m — 最も改善余地が大きい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47120" cy="2743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5. Iteration 2 — チューニング結果 (gate↓, confirm↑, acc_noise↑)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05840"/>
          <a:ext cx="10515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554480"/>
                <a:gridCol w="1371600"/>
                <a:gridCol w="1645920"/>
                <a:gridCol w="1371600"/>
                <a:gridCol w="128016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パターン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位置RMSE [m]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速度RMSE [m/s]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OSPA [m]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Precision [%]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Recall [%]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F1 [%]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A: Ballistic cl=0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1186 ±50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198 ±4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1054 ±46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99.8 ±0.4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99.4 ±0.4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99.6 ±0.2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B: Ballistic cl=40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1384 ±28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217 ±2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2206 ±218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97.8 ±0.9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99.6 ±0.1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98.7 ±0.4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C: HGV cl=0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2391 ±257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394 ±87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2040 ±170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99.0 ±1.1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99.4 ±0.1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99.2 ±0.6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D: HGV cl=40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2046 ±24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305 ±6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2351 ±40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98.0 ±0.1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99.0 ±0.1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98.5 ±0.1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3375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Meiryo"/>
              </a:rPr>
              <a:t>注目ポイント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49039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003366"/>
                </a:solidFill>
                <a:latin typeface="Meiryo"/>
              </a:rPr>
              <a:t>■  </a:t>
            </a:r>
            <a:r>
              <a:rPr sz="1200" b="0">
                <a:solidFill>
                  <a:srgbClr val="333333"/>
                </a:solidFill>
                <a:latin typeface="Meiryo"/>
              </a:rPr>
              <a:t>全パターンで Precision が顕著に改善 (最大 +3.9pt: C パターン)</a:t>
            </a:r>
          </a:p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003366"/>
                </a:solidFill>
                <a:latin typeface="Meiryo"/>
              </a:rPr>
              <a:t>■  </a:t>
            </a:r>
            <a:r>
              <a:rPr sz="1200" b="0">
                <a:solidFill>
                  <a:srgbClr val="333333"/>
                </a:solidFill>
                <a:latin typeface="Meiryo"/>
              </a:rPr>
              <a:t>OSPA が全体的に改善 (D: 3224→2351m, −27%)</a:t>
            </a:r>
          </a:p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003366"/>
                </a:solidFill>
                <a:latin typeface="Meiryo"/>
              </a:rPr>
              <a:t>■  </a:t>
            </a:r>
            <a:r>
              <a:rPr sz="1200" b="0">
                <a:solidFill>
                  <a:srgbClr val="333333"/>
                </a:solidFill>
                <a:latin typeface="Meiryo"/>
              </a:rPr>
              <a:t>HGV 速度 RMSE はまだ高い (C: 445→394 m/s) — 速度ノイズ追加が必要</a:t>
            </a:r>
          </a:p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003366"/>
                </a:solidFill>
                <a:latin typeface="Meiryo"/>
              </a:rPr>
              <a:t>■  </a:t>
            </a:r>
            <a:r>
              <a:rPr sz="1200" b="0">
                <a:solidFill>
                  <a:srgbClr val="333333"/>
                </a:solidFill>
                <a:latin typeface="Meiryo"/>
              </a:rPr>
              <a:t>F1 が全パターンで 98.5% 以上に向上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47120" cy="2743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6. Iteration 3 — 最終チューニング結果 (vel_noise↑, acc_noise↑)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005840"/>
          <a:ext cx="105156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1554480"/>
                <a:gridCol w="1371600"/>
                <a:gridCol w="1645920"/>
                <a:gridCol w="1371600"/>
                <a:gridCol w="1280160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パターン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位置RMSE [m]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速度RMSE [m/s]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OSPA [m]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Precision [%]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Recall [%]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F1 [%]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A: Ballistic cl=0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1177 ±27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197 ±3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1088 ±32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99.9 ±0.3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99.4 ±0.4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99.6 ±0.2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B: Ballistic cl=40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1345 ±36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215 ±1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1891 ±23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99.1 ±0.1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99.7 ±0.0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99.4 ±0.0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C: HGV cl=0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2252 ±266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232 ±8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1972 ±170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99.4 ±0.6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99.4 ±0.1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99.4 ±0.3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D: HGV cl=40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1948 ±29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242 ±2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2269 ±12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98.6 ±0.1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99.3 ±0.1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98.9 ±0.1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333756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Meiryo"/>
              </a:rPr>
              <a:t>注目ポイント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749039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003366"/>
                </a:solidFill>
                <a:latin typeface="Meiryo"/>
              </a:rPr>
              <a:t>■  </a:t>
            </a:r>
            <a:r>
              <a:rPr sz="1200" b="0">
                <a:solidFill>
                  <a:srgbClr val="333333"/>
                </a:solidFill>
                <a:latin typeface="Meiryo"/>
              </a:rPr>
              <a:t>HGV 速度 RMSE が劇的に改善 (C: 394→232 m/s, −41%; D: 305→242 m/s, −21%)</a:t>
            </a:r>
          </a:p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003366"/>
                </a:solidFill>
                <a:latin typeface="Meiryo"/>
              </a:rPr>
              <a:t>■  </a:t>
            </a:r>
            <a:r>
              <a:rPr sz="1200" b="0">
                <a:solidFill>
                  <a:srgbClr val="333333"/>
                </a:solidFill>
                <a:latin typeface="Meiryo"/>
              </a:rPr>
              <a:t>Pattern D 位置 RMSE が 2000m 未満に到達 (2046→1948m)</a:t>
            </a:r>
          </a:p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003366"/>
                </a:solidFill>
                <a:latin typeface="Meiryo"/>
              </a:rPr>
              <a:t>■  </a:t>
            </a:r>
            <a:r>
              <a:rPr sz="1200" b="0">
                <a:solidFill>
                  <a:srgbClr val="333333"/>
                </a:solidFill>
                <a:latin typeface="Meiryo"/>
              </a:rPr>
              <a:t>Ballistic クラスタ OSPA −14% (2207→1891m)</a:t>
            </a:r>
          </a:p>
          <a:p>
            <a:pPr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</a:pPr>
            <a:r>
              <a:rPr sz="1200" b="0">
                <a:solidFill>
                  <a:srgbClr val="003366"/>
                </a:solidFill>
                <a:latin typeface="Meiryo"/>
              </a:rPr>
              <a:t>■  </a:t>
            </a:r>
            <a:r>
              <a:rPr sz="1200" b="0">
                <a:solidFill>
                  <a:srgbClr val="333333"/>
                </a:solidFill>
                <a:latin typeface="Meiryo"/>
              </a:rPr>
              <a:t>全パターンで Precision ≥ 98.6%, F1 ≥ 98.9% を達成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55080"/>
            <a:ext cx="11247120" cy="2743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7. 性能推移 — 位置 RMSE・速度 RMSE</a:t>
            </a:r>
          </a:p>
        </p:txBody>
      </p:sp>
      <p:pic>
        <p:nvPicPr>
          <p:cNvPr id="4" name="Picture 3" descr="pos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852160" cy="3017520"/>
          </a:xfrm>
          <a:prstGeom prst="rect">
            <a:avLst/>
          </a:prstGeom>
        </p:spPr>
      </p:pic>
      <p:pic>
        <p:nvPicPr>
          <p:cNvPr id="5" name="Picture 4" descr="vel_rm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914400"/>
            <a:ext cx="557784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11480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366"/>
                </a:solidFill>
                <a:latin typeface="Meiryo"/>
              </a:rPr>
              <a:t>位置 RMSE 改善ポイント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480560"/>
            <a:ext cx="5852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003366"/>
                </a:solidFill>
                <a:latin typeface="Meiryo"/>
              </a:rPr>
              <a:t>■  </a:t>
            </a:r>
            <a:r>
              <a:rPr sz="1100" b="0">
                <a:solidFill>
                  <a:srgbClr val="333333"/>
                </a:solidFill>
                <a:latin typeface="Meiryo"/>
              </a:rPr>
              <a:t>A (Ballistic cl=0): 1299→1177m (−9.4%)</a:t>
            </a:r>
          </a:p>
          <a:p>
            <a:pPr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003366"/>
                </a:solidFill>
                <a:latin typeface="Meiryo"/>
              </a:rPr>
              <a:t>■  </a:t>
            </a:r>
            <a:r>
              <a:rPr sz="1100" b="0">
                <a:solidFill>
                  <a:srgbClr val="333333"/>
                </a:solidFill>
                <a:latin typeface="Meiryo"/>
              </a:rPr>
              <a:t>B (Ballistic cl=40): 1429→1345m (−5.9%)</a:t>
            </a:r>
          </a:p>
          <a:p>
            <a:pPr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003366"/>
                </a:solidFill>
                <a:latin typeface="Meiryo"/>
              </a:rPr>
              <a:t>■  </a:t>
            </a:r>
            <a:r>
              <a:rPr sz="1100" b="0">
                <a:solidFill>
                  <a:srgbClr val="333333"/>
                </a:solidFill>
                <a:latin typeface="Meiryo"/>
              </a:rPr>
              <a:t>C (HGV cl=0): 2400→2252m (−6.2%)</a:t>
            </a:r>
          </a:p>
          <a:p>
            <a:pPr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003366"/>
                </a:solidFill>
                <a:latin typeface="Meiryo"/>
              </a:rPr>
              <a:t>■  </a:t>
            </a:r>
            <a:r>
              <a:rPr sz="1100" b="0">
                <a:solidFill>
                  <a:srgbClr val="333333"/>
                </a:solidFill>
                <a:latin typeface="Meiryo"/>
              </a:rPr>
              <a:t>D (HGV cl=40): 2042→1948m (−4.8%) ★ 2000m 達成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41148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366"/>
                </a:solidFill>
                <a:latin typeface="Meiryo"/>
              </a:rPr>
              <a:t>速度 RMSE 改善ポイント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480560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003366"/>
                </a:solidFill>
                <a:latin typeface="Meiryo"/>
              </a:rPr>
              <a:t>■  </a:t>
            </a:r>
            <a:r>
              <a:rPr sz="1100" b="0">
                <a:solidFill>
                  <a:srgbClr val="333333"/>
                </a:solidFill>
                <a:latin typeface="Meiryo"/>
              </a:rPr>
              <a:t>Iter 3 で vel_noise 65→150 m/s に増大</a:t>
            </a:r>
          </a:p>
          <a:p>
            <a:pPr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003366"/>
                </a:solidFill>
                <a:latin typeface="Meiryo"/>
              </a:rPr>
              <a:t>■  </a:t>
            </a:r>
            <a:r>
              <a:rPr sz="1100" b="0">
                <a:solidFill>
                  <a:srgbClr val="333333"/>
                </a:solidFill>
                <a:latin typeface="Meiryo"/>
              </a:rPr>
              <a:t>C (HGV cl=0): 446→232 m/s (−47.9%) ★★ 最大改善</a:t>
            </a:r>
          </a:p>
          <a:p>
            <a:pPr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003366"/>
                </a:solidFill>
                <a:latin typeface="Meiryo"/>
              </a:rPr>
              <a:t>■  </a:t>
            </a:r>
            <a:r>
              <a:rPr sz="1100" b="0">
                <a:solidFill>
                  <a:srgbClr val="333333"/>
                </a:solidFill>
                <a:latin typeface="Meiryo"/>
              </a:rPr>
              <a:t>D (HGV cl=40): 325→242 m/s (−25.5%) ★</a:t>
            </a:r>
          </a:p>
          <a:p>
            <a:pPr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003366"/>
                </a:solidFill>
                <a:latin typeface="Meiryo"/>
              </a:rPr>
              <a:t>■  </a:t>
            </a:r>
            <a:r>
              <a:rPr sz="1100" b="0">
                <a:solidFill>
                  <a:srgbClr val="333333"/>
                </a:solidFill>
                <a:latin typeface="Meiryo"/>
              </a:rPr>
              <a:t>Ballistic は Iter 2 段階で収束 (~200 m/s)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355080"/>
            <a:ext cx="11247120" cy="2743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8. 性能推移 — OSPA 距離・Precision</a:t>
            </a:r>
          </a:p>
        </p:txBody>
      </p:sp>
      <p:pic>
        <p:nvPicPr>
          <p:cNvPr id="4" name="Picture 3" descr="os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5852160" cy="3017520"/>
          </a:xfrm>
          <a:prstGeom prst="rect">
            <a:avLst/>
          </a:prstGeom>
        </p:spPr>
      </p:pic>
      <p:pic>
        <p:nvPicPr>
          <p:cNvPr id="5" name="Picture 4" descr="pr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914400"/>
            <a:ext cx="5577840" cy="3017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114800"/>
            <a:ext cx="5852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366"/>
                </a:solidFill>
                <a:latin typeface="Meiryo"/>
              </a:rPr>
              <a:t>OSPA 改善ポイント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480560"/>
            <a:ext cx="5852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003366"/>
                </a:solidFill>
                <a:latin typeface="Meiryo"/>
              </a:rPr>
              <a:t>■  </a:t>
            </a:r>
            <a:r>
              <a:rPr sz="1100" b="0">
                <a:solidFill>
                  <a:srgbClr val="333333"/>
                </a:solidFill>
                <a:latin typeface="Meiryo"/>
              </a:rPr>
              <a:t>B (Ballistic cl=40): 2479→1891m (−23.7%) ★</a:t>
            </a:r>
          </a:p>
          <a:p>
            <a:pPr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003366"/>
                </a:solidFill>
                <a:latin typeface="Meiryo"/>
              </a:rPr>
              <a:t>■  </a:t>
            </a:r>
            <a:r>
              <a:rPr sz="1100" b="0">
                <a:solidFill>
                  <a:srgbClr val="333333"/>
                </a:solidFill>
                <a:latin typeface="Meiryo"/>
              </a:rPr>
              <a:t>D (HGV cl=40): 3224→2269m (−29.6%) ★★</a:t>
            </a:r>
          </a:p>
          <a:p>
            <a:pPr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003366"/>
                </a:solidFill>
                <a:latin typeface="Meiryo"/>
              </a:rPr>
              <a:t>■  </a:t>
            </a:r>
            <a:r>
              <a:rPr sz="1100" b="0">
                <a:solidFill>
                  <a:srgbClr val="333333"/>
                </a:solidFill>
                <a:latin typeface="Meiryo"/>
              </a:rPr>
              <a:t>クラスタ環境での多目標 OSPA が大幅改善</a:t>
            </a:r>
          </a:p>
          <a:p>
            <a:pPr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003366"/>
                </a:solidFill>
                <a:latin typeface="Meiryo"/>
              </a:rPr>
              <a:t>■  </a:t>
            </a:r>
            <a:r>
              <a:rPr sz="1100" b="0">
                <a:solidFill>
                  <a:srgbClr val="333333"/>
                </a:solidFill>
                <a:latin typeface="Meiryo"/>
              </a:rPr>
              <a:t>偽トラック削除の早期化が有効に機能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4114800"/>
            <a:ext cx="5577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366"/>
                </a:solidFill>
                <a:latin typeface="Meiryo"/>
              </a:rPr>
              <a:t>Precision 改善ポイント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480560"/>
            <a:ext cx="5577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003366"/>
                </a:solidFill>
                <a:latin typeface="Meiryo"/>
              </a:rPr>
              <a:t>■  </a:t>
            </a:r>
            <a:r>
              <a:rPr sz="1100" b="0">
                <a:solidFill>
                  <a:srgbClr val="333333"/>
                </a:solidFill>
                <a:latin typeface="Meiryo"/>
              </a:rPr>
              <a:t>D (HGV cl=40): 92.5%→98.6% (+6.1pt) ★★</a:t>
            </a:r>
          </a:p>
          <a:p>
            <a:pPr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003366"/>
                </a:solidFill>
                <a:latin typeface="Meiryo"/>
              </a:rPr>
              <a:t>■  </a:t>
            </a:r>
            <a:r>
              <a:rPr sz="1100" b="0">
                <a:solidFill>
                  <a:srgbClr val="333333"/>
                </a:solidFill>
                <a:latin typeface="Meiryo"/>
              </a:rPr>
              <a:t>C (HGV cl=0): 95.1%→99.4% (+4.3pt) ★</a:t>
            </a:r>
          </a:p>
          <a:p>
            <a:pPr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003366"/>
                </a:solidFill>
                <a:latin typeface="Meiryo"/>
              </a:rPr>
              <a:t>■  </a:t>
            </a:r>
            <a:r>
              <a:rPr sz="1100" b="0">
                <a:solidFill>
                  <a:srgbClr val="333333"/>
                </a:solidFill>
                <a:latin typeface="Meiryo"/>
              </a:rPr>
              <a:t>B (Ballistic cl=40): 96.0%→99.1% (+3.1pt)</a:t>
            </a:r>
          </a:p>
          <a:p>
            <a:pPr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003366"/>
                </a:solidFill>
                <a:latin typeface="Meiryo"/>
              </a:rPr>
              <a:t>■  </a:t>
            </a:r>
            <a:r>
              <a:rPr sz="1100" b="0">
                <a:solidFill>
                  <a:srgbClr val="333333"/>
                </a:solidFill>
                <a:latin typeface="Meiryo"/>
              </a:rPr>
              <a:t>ゲート閾値 500→150 と confirm_hits 2→3 が寄与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355080"/>
            <a:ext cx="11247120" cy="2743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9. 主要指標の改善量 (Iter 1 → Iter 3)</a:t>
            </a:r>
          </a:p>
        </p:txBody>
      </p:sp>
      <p:pic>
        <p:nvPicPr>
          <p:cNvPr id="4" name="Picture 3" descr="impro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772400" cy="50292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321040" y="1097280"/>
            <a:ext cx="3657600" cy="47548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3366"/>
                </a:solidFill>
                <a:latin typeface="Meiryo"/>
              </a:rPr>
              <a:t>特筆すべき改善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828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iryo"/>
              </a:rPr>
              <a:t>HGV 速度 RMSE (C)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18288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73B5"/>
                </a:solidFill>
                <a:latin typeface="Meiryo"/>
              </a:rPr>
              <a:t>−47.9%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48716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iryo"/>
              </a:rPr>
              <a:t>OSPA, HGV cl=40 (D)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2487168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73B5"/>
                </a:solidFill>
                <a:latin typeface="Meiryo"/>
              </a:rPr>
              <a:t>−29.6%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14553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iryo"/>
              </a:rPr>
              <a:t>OSPA, Bal cl=40 (B)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3145536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73B5"/>
                </a:solidFill>
                <a:latin typeface="Meiryo"/>
              </a:rPr>
              <a:t>−23.7%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80390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iryo"/>
              </a:rPr>
              <a:t>HGV 速度 RMSE (D)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3803904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73B5"/>
                </a:solidFill>
                <a:latin typeface="Meiryo"/>
              </a:rPr>
              <a:t>−20.7%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4622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iryo"/>
              </a:rPr>
              <a:t>Precision, HGV cl=40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4462272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73B5"/>
                </a:solidFill>
                <a:latin typeface="Meiryo"/>
              </a:rPr>
              <a:t>+6.1 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1206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Meiryo"/>
              </a:rPr>
              <a:t>F1, HGV cl=40 (D)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51206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1A73B5"/>
                </a:solidFill>
                <a:latin typeface="Meiryo"/>
              </a:rPr>
              <a:t>+3.4 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355080"/>
            <a:ext cx="11247120" cy="2743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10. 処理速度評価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366"/>
                </a:solidFill>
                <a:latin typeface="Meiryo"/>
              </a:rPr>
              <a:t>全パターン共通の処理速度（Iteration 3 実測値）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651760" cy="21945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Meiryo"/>
              </a:rPr>
              <a:t>全体処理時間
(Ballistic, cl=0)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03366"/>
                </a:solidFill>
                <a:latin typeface="Meiryo"/>
              </a:rPr>
              <a:t>0.9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80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3366"/>
                </a:solidFill>
                <a:latin typeface="Meiryo"/>
              </a:rP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Meiryo"/>
              </a:rPr>
              <a:t>400s シナリオ / 5試行平均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554480"/>
            <a:ext cx="2651760" cy="21945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Meiryo"/>
              </a:rPr>
              <a:t>全体処理時間
(HGV, cl=40)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3317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03366"/>
                </a:solidFill>
                <a:latin typeface="Meiryo"/>
              </a:rPr>
              <a:t>1.9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880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3366"/>
                </a:solidFill>
                <a:latin typeface="Meiryo"/>
              </a:rPr>
              <a:t>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246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Meiryo"/>
              </a:rPr>
              <a:t>600s × 41目標シナリオ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554480"/>
            <a:ext cx="2651760" cy="21945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Meiryo"/>
              </a:rPr>
              <a:t>平均フレーム処理
(単目標)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317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03366"/>
                </a:solidFill>
                <a:latin typeface="Meiryo"/>
              </a:rPr>
              <a:t>0.3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880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3366"/>
                </a:solidFill>
                <a:latin typeface="Meiryo"/>
              </a:rPr>
              <a:t>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246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Meiryo"/>
              </a:rPr>
              <a:t>リアルタイム比 ~1,300x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1554480"/>
            <a:ext cx="2651760" cy="219456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5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69164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  <a:latin typeface="Meiryo"/>
              </a:rPr>
              <a:t>平均フレーム処理
(41目標)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33172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003366"/>
                </a:solidFill>
                <a:latin typeface="Meiryo"/>
              </a:rPr>
              <a:t>0.5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880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3366"/>
                </a:solidFill>
                <a:latin typeface="Meiryo"/>
              </a:rPr>
              <a:t>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3246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Meiryo"/>
              </a:rPr>
              <a:t>リアルタイム比 ~200x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57200" y="402336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2011680"/>
                <a:gridCol w="1828800"/>
                <a:gridCol w="329184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シナリオ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全体時間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フレーム時間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リアルタイム比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判定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Ballistic, cl=0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0.9 ± 0.0 s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0.3 ± 0.0 ms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×1,333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7AE60"/>
                          </a:solidFill>
                          <a:latin typeface="Meiryo"/>
                        </a:rPr>
                        <a:t>PASS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Ballistic, cl=40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2.2 ± 0.6 s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0.5 ± 0.1 ms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× 364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7AE60"/>
                          </a:solidFill>
                          <a:latin typeface="Meiryo"/>
                        </a:rPr>
                        <a:t>PASS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HGV, cl=0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0.8 ± 0.0 s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0.3 ± 0.0 ms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×2,000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7AE60"/>
                          </a:solidFill>
                          <a:latin typeface="Meiryo"/>
                        </a:rPr>
                        <a:t>PASS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HGV, cl=40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1.9 ± 0.5 s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0.5 ± 0.1 ms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× 211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7AE60"/>
                          </a:solidFill>
                          <a:latin typeface="Meiryo"/>
                        </a:rPr>
                        <a:t>PASS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457200" y="6355080"/>
            <a:ext cx="11247120" cy="27432"/>
          </a:xfrm>
          <a:prstGeom prst="rect">
            <a:avLst/>
          </a:prstGeom>
          <a:solidFill>
            <a:srgbClr val="005B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eiryo"/>
              </a:rPr>
              <a:t>11. 総合評価・まとめ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Meiryo"/>
              </a:rPr>
              <a:t>最終追尾パラメータ (Iter 3 確定値)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77440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パラメータ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確定値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gate_threshold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150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confirm_hits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3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delete_misses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process_pos_noise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160 m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process_vel_noise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150 m/s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process_acc_noise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500 m/s²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min_snr_for_init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22 dB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126480" y="9144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366"/>
                </a:solidFill>
                <a:latin typeface="Meiryo"/>
              </a:rPr>
              <a:t>主要改善成果 (Iter 1 → Iter 3)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126480" y="1325880"/>
          <a:ext cx="56692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09728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指標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Iter 1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Iter 3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eiryo"/>
                        </a:rPr>
                        <a:t>改善</a:t>
                      </a:r>
                    </a:p>
                  </a:txBody>
                  <a:tcPr anchor="ctr" marL="54864" marR="54864" marT="27432" marB="27432">
                    <a:solidFill>
                      <a:srgbClr val="0033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HGV 速度 RMSE (C)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446 m/s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232 m/s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7AE60"/>
                          </a:solidFill>
                          <a:latin typeface="Meiryo"/>
                        </a:rPr>
                        <a:t>−48% ★★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HGV cl=40 OSPA (D)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3,224 m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2,269 m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7AE60"/>
                          </a:solidFill>
                          <a:latin typeface="Meiryo"/>
                        </a:rPr>
                        <a:t>−30% ★★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Bal cl=40 OSPA (B)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2,479 m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1,891 m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7AE60"/>
                          </a:solidFill>
                          <a:latin typeface="Meiryo"/>
                        </a:rPr>
                        <a:t>−24% ★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Precision HGV cl=40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92.5%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98.6%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7AE60"/>
                          </a:solidFill>
                          <a:latin typeface="Meiryo"/>
                        </a:rPr>
                        <a:t>+6.1 pt ★★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F1 HGV cl=40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95.5%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98.9%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7AE60"/>
                          </a:solidFill>
                          <a:latin typeface="Meiryo"/>
                        </a:rPr>
                        <a:t>+3.4 pt ★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Pos RMSE HGV cl=40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2,042 m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333333"/>
                          </a:solidFill>
                          <a:latin typeface="Meiryo"/>
                        </a:rPr>
                        <a:t>1,948 m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27AE60"/>
                          </a:solidFill>
                          <a:latin typeface="Meiryo"/>
                        </a:rPr>
                        <a:t>&lt; 2000 m ★</a:t>
                      </a:r>
                    </a:p>
                  </a:txBody>
                  <a:tcPr anchor="ctr" marL="54864" marR="54864" marT="27432" marB="27432">
                    <a:solidFill>
                      <a:srgbClr val="ECF0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663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74C3C"/>
                </a:solidFill>
                <a:latin typeface="Meiryo"/>
              </a:rPr>
              <a:t>残課題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74920"/>
            <a:ext cx="53035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E74C3C"/>
                </a:solidFill>
                <a:latin typeface="Meiryo"/>
              </a:rPr>
              <a:t>■  </a:t>
            </a:r>
            <a:r>
              <a:rPr sz="1100" b="0">
                <a:solidFill>
                  <a:srgbClr val="333333"/>
                </a:solidFill>
                <a:latin typeface="Meiryo"/>
              </a:rPr>
              <a:t>HGV 位置 RMSE は ~2000–2250 m 台 (機動の本質的誤差)</a:t>
            </a:r>
          </a:p>
          <a:p>
            <a:pPr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E74C3C"/>
                </a:solidFill>
                <a:latin typeface="Meiryo"/>
              </a:rPr>
              <a:t>■  </a:t>
            </a:r>
            <a:r>
              <a:rPr sz="1100" b="0">
                <a:solidFill>
                  <a:srgbClr val="333333"/>
                </a:solidFill>
                <a:latin typeface="Meiryo"/>
              </a:rPr>
              <a:t>HGV 単機で稀に偽トラック一時確定 (Track Purity 33% ケース)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402336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73B5"/>
                </a:solidFill>
                <a:latin typeface="Meiryo"/>
              </a:rPr>
              <a:t>今後の改善候補（アルゴリズム変更要）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4434840"/>
            <a:ext cx="5669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1A73B5"/>
                </a:solidFill>
                <a:latin typeface="Meiryo"/>
              </a:rPr>
              <a:t>■  </a:t>
            </a:r>
            <a:r>
              <a:rPr sz="1100" b="0">
                <a:solidFill>
                  <a:srgbClr val="333333"/>
                </a:solidFill>
                <a:latin typeface="Meiryo"/>
              </a:rPr>
              <a:t>IMM モデル遷移確率の適応的更新 (HGV 機動フェーズ対応)</a:t>
            </a:r>
          </a:p>
          <a:p>
            <a:pPr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1A73B5"/>
                </a:solidFill>
                <a:latin typeface="Meiryo"/>
              </a:rPr>
              <a:t>■  </a:t>
            </a:r>
            <a:r>
              <a:rPr sz="1100" b="0">
                <a:solidFill>
                  <a:srgbClr val="333333"/>
                </a:solidFill>
                <a:latin typeface="Meiryo"/>
              </a:rPr>
              <a:t>アダプティブゲート (SNR・距離に応じた動的閾値)</a:t>
            </a:r>
          </a:p>
          <a:p>
            <a:pPr>
              <a:lnSpc>
                <a:spcPts val="1400"/>
              </a:lnSpc>
              <a:spcBef>
                <a:spcPts val="300"/>
              </a:spcBef>
              <a:spcAft>
                <a:spcPts val="300"/>
              </a:spcAft>
            </a:pPr>
            <a:r>
              <a:rPr sz="1100" b="0">
                <a:solidFill>
                  <a:srgbClr val="1A73B5"/>
                </a:solidFill>
                <a:latin typeface="Meiryo"/>
              </a:rPr>
              <a:t>■  </a:t>
            </a:r>
            <a:r>
              <a:rPr sz="1100" b="0">
                <a:solidFill>
                  <a:srgbClr val="333333"/>
                </a:solidFill>
                <a:latin typeface="Meiryo"/>
              </a:rPr>
              <a:t>HGV 確定トラックへのビーム優先割当強化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806440"/>
            <a:ext cx="11247120" cy="658368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852160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"/>
              </a:rPr>
              <a:t>結論: 3回のパラメータチューニングにより全パターンで F1≥98.9%、Precision≥98.6% を達成。HGV 速度 RMSE を最大 −48% 改善し、GPU加速による処理速度もリアルタイム要件を十分満足する。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46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  <a:latin typeface="Meiryo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